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39af61dbe74dd8" /><Relationship Type="http://schemas.openxmlformats.org/officeDocument/2006/relationships/extended-properties" Target="/docProps/app.xml" Id="Rd4dfdb4844464b01" /><Relationship Type="http://schemas.openxmlformats.org/officeDocument/2006/relationships/officeDocument" Target="/ppt/presentation.xml" Id="R4aadf1c1da0b44e8" /></Relationships>
</file>

<file path=ppt/presentation.xml><?xml version="1.0" encoding="utf-8"?>
<p:presentation xmlns:p="http://schemas.openxmlformats.org/presentationml/2006/main">
  <p:sldMasterIdLst>
    <p:sldMasterId xmlns:r="http://schemas.openxmlformats.org/officeDocument/2006/relationships" id="2147483648" r:id="R45d599fa120b41a5"/>
  </p:sldMasterIdLst>
  <p:notesMasterIdLst>
    <p:notesMasterId xmlns:r="http://schemas.openxmlformats.org/officeDocument/2006/relationships" r:id="R481f0bd3740c40e1"/>
  </p:notesMasterIdLst>
  <p:sldIdLst>
    <p:sldId xmlns:r="http://schemas.openxmlformats.org/officeDocument/2006/relationships" id="256" r:id="R2d0d37922f3646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8511e176b24ef5" /><Relationship Type="http://schemas.openxmlformats.org/officeDocument/2006/relationships/slideMaster" Target="/ppt/slideMasters/slideMaster1.xml" Id="R45d599fa120b41a5" /><Relationship Type="http://schemas.openxmlformats.org/officeDocument/2006/relationships/notesMaster" Target="/ppt/notesMasters/notesMaster1.xml" Id="R481f0bd3740c40e1" /><Relationship Type="http://schemas.openxmlformats.org/officeDocument/2006/relationships/presProps" Target="/ppt/presProps.xml" Id="R2ae7a1757ba04c64" /><Relationship Type="http://schemas.openxmlformats.org/officeDocument/2006/relationships/tableStyles" Target="/ppt/tableStyles.xml" Id="R2c653b13d055480b" /><Relationship Type="http://schemas.openxmlformats.org/officeDocument/2006/relationships/slide" Target="/ppt/slides/slide1.xml" Id="R2d0d37922f3646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8a9d9137c5549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fc77c748e843ef" /><Relationship Type="http://schemas.openxmlformats.org/officeDocument/2006/relationships/notesMaster" Target="/ppt/notesMasters/notesMaster1.xml" Id="Ra0bf66af01f449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for the Buildwise talk, Give AI one real job in your business. Ask the room which task keeps returning to the owner. Introduce Bob as an AI teammate with the Buildwise team checking the work. Use the companion talk notes for the 20-minute talk and 10-minute discussion. Sources: Robert-approved Bob identity and September 7, 2026 website launch plan. Bob is the approved generated character, unchanged. No live talking-Bob feature is claimed. Public materials: https://buildwisemedia.com/talk/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a0e6b3ebba43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531d675db44594" /><Relationship Type="http://schemas.openxmlformats.org/officeDocument/2006/relationships/slideLayout" Target="/ppt/slideLayouts/slideLayout1.xml" Id="R55b390120fe74e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b390120fe74e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4e6cf03ee314334" /><Relationship Type="http://schemas.openxmlformats.org/officeDocument/2006/relationships/image" Target="/ppt/media/image.png" Id="R8b67be7ea2cb4910" /><Relationship Type="http://schemas.openxmlformats.org/officeDocument/2006/relationships/image" Target="/ppt/media/image.svg" Id="R71e3a9d5351b4d06" /><Relationship Type="http://schemas.openxmlformats.org/officeDocument/2006/relationships/image" Target="/ppt/media/image2.png" Id="R2f92e75a4df7423a" /><Relationship Type="http://schemas.openxmlformats.org/officeDocument/2006/relationships/notesSlide" Target="/ppt/notesSlides/notesSlide1.xml" Id="R3e4f0515842340b6" /></Relationships>
</file>

<file path=ppt/slides/slide1.xml><?xml version="1.0" encoding="utf-8"?>
<p:sld xmlns:p="http://schemas.openxmlformats.org/presentationml/2006/main">
  <p:cSld>
    <p:bg>
      <p:bgPr>
        <a:solidFill xmlns:a="http://schemas.openxmlformats.org/drawingml/2006/main">
          <a:srgbClr val="050507"/>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b67be7ea2cb4910">
            <a:extLst>
              <a:ext uri="{96DAC541-7B7A-43D3-8B79-37D633B846F1}">
                <asvg:svgBlip xmlns:asvg="http://schemas.microsoft.com/office/drawing/2016/SVG/main" r:embed="R71e3a9d5351b4d06"/>
              </a:ext>
            </a:extLst>
          </a:blip>
          <a:stretch xmlns:a="http://schemas.openxmlformats.org/drawingml/2006/main"/>
        </p:blipFill>
        <p:spPr>
          <a:xfrm xmlns:a="http://schemas.openxmlformats.org/drawingml/2006/main">
            <a:off x="552450" y="428625"/>
            <a:ext cx="304800"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3221E8B-4AC1-41AA-9955-D8D612FDDEA1}"/>
              </a:ext>
            </a:extLst>
          </p:cNvPr>
          <p:cNvSpPr>
            <a:spLocks xmlns:a="http://schemas.openxmlformats.org/drawingml/2006/main" noGrp="1"/>
          </p:cNvSpPr>
          <p:nvPr/>
        </p:nvSpPr>
        <p:spPr>
          <a:xfrm xmlns:a="http://schemas.openxmlformats.org/drawingml/2006/main">
            <a:off x="1000125" y="43815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5B7C0"/>
                </a:solidFill>
                <a:latin typeface="Inter"/>
                <a:ea typeface="Inter"/>
                <a:cs typeface="Inter"/>
              </a:defRPr>
            </a:pPr>
            <a:r>
              <a:rPr sz="1650" b="1">
                <a:solidFill>
                  <a:srgbClr val="B5B7C0"/>
                </a:solidFill>
                <a:latin typeface="Inter"/>
                <a:ea typeface="Inter"/>
                <a:cs typeface="Inter"/>
              </a:rPr>
              <a:t>BUILDWISE MEDIA</a:t>
            </a:r>
          </a:p>
        </p:txBody>
      </p:sp>
      <p:sp>
        <p:nvSpPr>
          <p:cNvPr id="3" name="">
            <a:extLst xmlns:a="http://schemas.openxmlformats.org/drawingml/2006/main">
              <a:ext uri="{FF2B5EF4-FFF2-40B4-BE49-F238E27FC236}">
                <a16:creationId xmlns:a16="http://schemas.microsoft.com/office/drawing/2014/main" id="{6FCBC40A-5552-4F17-9E9D-D99BA28FEF27}"/>
              </a:ext>
            </a:extLst>
          </p:cNvPr>
          <p:cNvSpPr>
            <a:spLocks xmlns:a="http://schemas.openxmlformats.org/drawingml/2006/main" noGrp="1"/>
          </p:cNvSpPr>
          <p:nvPr/>
        </p:nvSpPr>
        <p:spPr>
          <a:xfrm xmlns:a="http://schemas.openxmlformats.org/drawingml/2006/main">
            <a:off x="552450" y="1600200"/>
            <a:ext cx="6715125"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75" b="1">
                <a:solidFill>
                  <a:srgbClr val="ECECEC"/>
                </a:solidFill>
                <a:latin typeface="Inter"/>
                <a:ea typeface="Inter"/>
                <a:cs typeface="Inter"/>
              </a:defRPr>
            </a:pPr>
            <a:r>
              <a:rPr sz="5175" b="1">
                <a:solidFill>
                  <a:srgbClr val="ECECEC"/>
                </a:solidFill>
                <a:latin typeface="Inter"/>
                <a:ea typeface="Inter"/>
                <a:cs typeface="Inter"/>
              </a:rPr>
              <a:t>Give AI one real</a:t>
            </a:r>
          </a:p>
          <a:p xmlns:a="http://schemas.openxmlformats.org/drawingml/2006/main">
            <a:pPr>
              <a:defRPr sz="5175" b="1">
                <a:solidFill>
                  <a:srgbClr val="ECECEC"/>
                </a:solidFill>
                <a:latin typeface="Inter"/>
                <a:ea typeface="Inter"/>
                <a:cs typeface="Inter"/>
              </a:defRPr>
            </a:pPr>
            <a:r>
              <a:rPr sz="5175" b="1">
                <a:solidFill>
                  <a:srgbClr val="ECECEC"/>
                </a:solidFill>
                <a:latin typeface="Inter"/>
                <a:ea typeface="Inter"/>
                <a:cs typeface="Inter"/>
              </a:rPr>
              <a:t>job in your</a:t>
            </a:r>
          </a:p>
          <a:p xmlns:a="http://schemas.openxmlformats.org/drawingml/2006/main">
            <a:pPr>
              <a:defRPr sz="5175" b="1">
                <a:solidFill>
                  <a:srgbClr val="ECECEC"/>
                </a:solidFill>
                <a:latin typeface="Inter"/>
                <a:ea typeface="Inter"/>
                <a:cs typeface="Inter"/>
              </a:defRPr>
            </a:pPr>
            <a:r>
              <a:rPr sz="5175" b="1">
                <a:solidFill>
                  <a:srgbClr val="ECECEC"/>
                </a:solidFill>
                <a:latin typeface="Inter"/>
                <a:ea typeface="Inter"/>
                <a:cs typeface="Inter"/>
              </a:rPr>
              <a:t>business</a:t>
            </a:r>
          </a:p>
        </p:txBody>
      </p:sp>
      <p:sp>
        <p:nvSpPr>
          <p:cNvPr id="4" name="">
            <a:extLst xmlns:a="http://schemas.openxmlformats.org/drawingml/2006/main">
              <a:ext uri="{FF2B5EF4-FFF2-40B4-BE49-F238E27FC236}">
                <a16:creationId xmlns:a16="http://schemas.microsoft.com/office/drawing/2014/main" id="{AC5693F7-D32B-4D4C-A504-9E749E3AE876}"/>
              </a:ext>
            </a:extLst>
          </p:cNvPr>
          <p:cNvSpPr>
            <a:spLocks xmlns:a="http://schemas.openxmlformats.org/drawingml/2006/main" noGrp="1"/>
          </p:cNvSpPr>
          <p:nvPr/>
        </p:nvSpPr>
        <p:spPr>
          <a:xfrm xmlns:a="http://schemas.openxmlformats.org/drawingml/2006/main">
            <a:off x="609600" y="4657725"/>
            <a:ext cx="6238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CECEC"/>
                </a:solidFill>
                <a:latin typeface="Inter"/>
                <a:ea typeface="Inter"/>
                <a:cs typeface="Inter"/>
              </a:defRPr>
            </a:pPr>
            <a:r>
              <a:rPr sz="2550" b="0">
                <a:solidFill>
                  <a:srgbClr val="ECECEC"/>
                </a:solidFill>
                <a:latin typeface="Inter"/>
                <a:ea typeface="Inter"/>
                <a:cs typeface="Inter"/>
              </a:rPr>
              <a:t>Meet Bob. Our team stands</a:t>
            </a:r>
          </a:p>
          <a:p xmlns:a="http://schemas.openxmlformats.org/drawingml/2006/main">
            <a:pPr>
              <a:defRPr sz="2550" b="0">
                <a:solidFill>
                  <a:srgbClr val="ECECEC"/>
                </a:solidFill>
                <a:latin typeface="Inter"/>
                <a:ea typeface="Inter"/>
                <a:cs typeface="Inter"/>
              </a:defRPr>
            </a:pPr>
            <a:r>
              <a:rPr sz="2550" b="0">
                <a:solidFill>
                  <a:srgbClr val="ECECEC"/>
                </a:solidFill>
                <a:latin typeface="Inter"/>
                <a:ea typeface="Inter"/>
                <a:cs typeface="Inter"/>
              </a:rPr>
              <a:t>behind his work.</a:t>
            </a:r>
          </a:p>
        </p:txBody>
      </p:sp>
      <p:sp>
        <p:nvSpPr>
          <p:cNvPr id="5" name="">
            <a:extLst xmlns:a="http://schemas.openxmlformats.org/drawingml/2006/main">
              <a:ext uri="{FF2B5EF4-FFF2-40B4-BE49-F238E27FC236}">
                <a16:creationId xmlns:a16="http://schemas.microsoft.com/office/drawing/2014/main" id="{D9F8DDC1-6D05-4867-9960-234A9E27EFD1}"/>
              </a:ext>
            </a:extLst>
          </p:cNvPr>
          <p:cNvSpPr>
            <a:spLocks xmlns:a="http://schemas.openxmlformats.org/drawingml/2006/main" noGrp="1"/>
          </p:cNvSpPr>
          <p:nvPr/>
        </p:nvSpPr>
        <p:spPr>
          <a:xfrm xmlns:a="http://schemas.openxmlformats.org/drawingml/2006/main">
            <a:off x="628650" y="62007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5B7C0"/>
                </a:solidFill>
                <a:latin typeface="Inter"/>
                <a:ea typeface="Inter"/>
                <a:cs typeface="Inter"/>
              </a:defRPr>
            </a:pPr>
            <a:r>
              <a:rPr sz="1725" b="0">
                <a:solidFill>
                  <a:srgbClr val="B5B7C0"/>
                </a:solidFill>
                <a:latin typeface="Inter"/>
                <a:ea typeface="Inter"/>
                <a:cs typeface="Inter"/>
              </a:rPr>
              <a:t>Notes and worksheet: buildwisemedia.com/talk</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f92e75a4df7423a"/>
          <a:stretch xmlns:a="http://schemas.openxmlformats.org/drawingml/2006/main"/>
        </p:blipFill>
        <p:spPr>
          <a:xfrm xmlns:a="http://schemas.openxmlformats.org/drawingml/2006/main">
            <a:off x="7143750" y="1466850"/>
            <a:ext cx="4619625" cy="4619625"/>
          </a:xfrm>
          <a:prstGeom xmlns:a="http://schemas.openxmlformats.org/drawingml/2006/main" prst="rect">
            <a:avLst/>
          </a:prstGeom>
        </p:spPr>
      </p:pic>
    </p:spTree>
    <p:extLst>
      <p:ext uri="{BB962C8B-B14F-4D97-AF65-F5344CB8AC3E}">
        <p14:creationId xmlns:p14="http://schemas.microsoft.com/office/powerpoint/2010/main" val="8808338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2026-09-08T11:06:18.8000000Z</dcterms:created>
  <dcterms:modified xsi:type="dcterms:W3CDTF">2026-09-08T11:06:18.8000000Z</dcterms:modified>
</coreProperties>
</file>